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0E466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E466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E466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E466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2944" y="430784"/>
            <a:ext cx="3068320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0E466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944" y="430784"/>
            <a:ext cx="3068320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cap="small"/>
              <a:t>Customer</a:t>
            </a:r>
            <a:r>
              <a:rPr dirty="0" cap="small" spc="30"/>
              <a:t> </a:t>
            </a:r>
            <a:r>
              <a:rPr dirty="0" cap="small" spc="-40"/>
              <a:t>Data</a:t>
            </a:r>
            <a:r>
              <a:rPr dirty="0" cap="small" spc="25"/>
              <a:t> </a:t>
            </a:r>
            <a:r>
              <a:rPr dirty="0" cap="small" spc="-55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812567"/>
            <a:ext cx="6501130" cy="6845934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1.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P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r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o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j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e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c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</a:t>
            </a:r>
            <a:r>
              <a:rPr dirty="0" cap="small" sz="1400" spc="13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O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v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e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r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v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i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e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w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12500"/>
              </a:lnSpc>
              <a:spcBef>
                <a:spcPts val="250"/>
              </a:spcBef>
            </a:pPr>
            <a:r>
              <a:rPr dirty="0" sz="1200">
                <a:latin typeface="Palatino Linotype"/>
                <a:cs typeface="Palatino Linotype"/>
              </a:rPr>
              <a:t>This</a:t>
            </a:r>
            <a:r>
              <a:rPr dirty="0" sz="1200" spc="-4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project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analyzes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customer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shopping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behavior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using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transactional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data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from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1000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customers </a:t>
            </a:r>
            <a:r>
              <a:rPr dirty="0" sz="1200">
                <a:latin typeface="Palatino Linotype"/>
                <a:cs typeface="Palatino Linotype"/>
              </a:rPr>
              <a:t>across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various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product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categories.</a:t>
            </a:r>
            <a:r>
              <a:rPr dirty="0" sz="1200" spc="25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The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goal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is</a:t>
            </a:r>
            <a:r>
              <a:rPr dirty="0" sz="1200" spc="-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to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uncover </a:t>
            </a:r>
            <a:r>
              <a:rPr dirty="0" sz="1200" spc="-10">
                <a:latin typeface="Palatino Linotype"/>
                <a:cs typeface="Palatino Linotype"/>
              </a:rPr>
              <a:t>following</a:t>
            </a:r>
            <a:endParaRPr sz="1200">
              <a:latin typeface="Palatino Linotype"/>
              <a:cs typeface="Palatino Linotype"/>
            </a:endParaRPr>
          </a:p>
          <a:p>
            <a:pPr marL="584200" indent="-22860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84200" algn="l"/>
              </a:tabLst>
            </a:pPr>
            <a:r>
              <a:rPr dirty="0" sz="1200">
                <a:latin typeface="Palatino Linotype"/>
                <a:cs typeface="Palatino Linotype"/>
              </a:rPr>
              <a:t>How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is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the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shopping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distribution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according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to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gender?</a:t>
            </a:r>
            <a:endParaRPr sz="1200">
              <a:latin typeface="Palatino Linotype"/>
              <a:cs typeface="Palatino Linotype"/>
            </a:endParaRPr>
          </a:p>
          <a:p>
            <a:pPr marL="584200" indent="-228600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584200" algn="l"/>
              </a:tabLst>
            </a:pPr>
            <a:r>
              <a:rPr dirty="0" sz="1200">
                <a:latin typeface="Palatino Linotype"/>
                <a:cs typeface="Palatino Linotype"/>
              </a:rPr>
              <a:t>Which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gender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did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we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sell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more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products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to?</a:t>
            </a:r>
            <a:endParaRPr sz="1200">
              <a:latin typeface="Palatino Linotype"/>
              <a:cs typeface="Palatino Linotype"/>
            </a:endParaRPr>
          </a:p>
          <a:p>
            <a:pPr marL="584200" indent="-22860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84200" algn="l"/>
              </a:tabLst>
            </a:pPr>
            <a:r>
              <a:rPr dirty="0" sz="1200">
                <a:latin typeface="Palatino Linotype"/>
                <a:cs typeface="Palatino Linotype"/>
              </a:rPr>
              <a:t>Which</a:t>
            </a:r>
            <a:r>
              <a:rPr dirty="0" sz="1200" spc="-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gender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generated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more</a:t>
            </a:r>
            <a:r>
              <a:rPr dirty="0" sz="1200" spc="-4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revenue?</a:t>
            </a:r>
            <a:endParaRPr sz="1200">
              <a:latin typeface="Palatino Linotype"/>
              <a:cs typeface="Palatino Linotype"/>
            </a:endParaRPr>
          </a:p>
          <a:p>
            <a:pPr marL="584200" indent="-228600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584200" algn="l"/>
              </a:tabLst>
            </a:pPr>
            <a:r>
              <a:rPr dirty="0" sz="1200">
                <a:latin typeface="Palatino Linotype"/>
                <a:cs typeface="Palatino Linotype"/>
              </a:rPr>
              <a:t>Distribution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of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purchase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categories</a:t>
            </a:r>
            <a:r>
              <a:rPr dirty="0" sz="1200" spc="-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relative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to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other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columns?</a:t>
            </a:r>
            <a:endParaRPr sz="1200">
              <a:latin typeface="Palatino Linotype"/>
              <a:cs typeface="Palatino Linotype"/>
            </a:endParaRPr>
          </a:p>
          <a:p>
            <a:pPr marL="584200" indent="-22860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84200" algn="l"/>
              </a:tabLst>
            </a:pPr>
            <a:r>
              <a:rPr dirty="0" sz="1200">
                <a:latin typeface="Palatino Linotype"/>
                <a:cs typeface="Palatino Linotype"/>
              </a:rPr>
              <a:t>How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is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the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shopping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distribution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according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to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 spc="-20">
                <a:latin typeface="Palatino Linotype"/>
                <a:cs typeface="Palatino Linotype"/>
              </a:rPr>
              <a:t>age?</a:t>
            </a:r>
            <a:endParaRPr sz="1200">
              <a:latin typeface="Palatino Linotype"/>
              <a:cs typeface="Palatino Linotype"/>
            </a:endParaRPr>
          </a:p>
          <a:p>
            <a:pPr marL="584200" indent="-22860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84200" algn="l"/>
              </a:tabLst>
            </a:pPr>
            <a:r>
              <a:rPr dirty="0" sz="1200">
                <a:latin typeface="Palatino Linotype"/>
                <a:cs typeface="Palatino Linotype"/>
              </a:rPr>
              <a:t>Which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age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cat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did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we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sell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more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products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 spc="-25">
                <a:latin typeface="Palatino Linotype"/>
                <a:cs typeface="Palatino Linotype"/>
              </a:rPr>
              <a:t>to?</a:t>
            </a:r>
            <a:endParaRPr sz="1200">
              <a:latin typeface="Palatino Linotype"/>
              <a:cs typeface="Palatino Linotype"/>
            </a:endParaRPr>
          </a:p>
          <a:p>
            <a:pPr marL="584200" indent="-228600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584200" algn="l"/>
              </a:tabLst>
            </a:pPr>
            <a:r>
              <a:rPr dirty="0" sz="1200">
                <a:latin typeface="Palatino Linotype"/>
                <a:cs typeface="Palatino Linotype"/>
              </a:rPr>
              <a:t>Which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age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cat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generated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more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revenue?</a:t>
            </a:r>
            <a:endParaRPr sz="1200">
              <a:latin typeface="Palatino Linotype"/>
              <a:cs typeface="Palatino Linotype"/>
            </a:endParaRPr>
          </a:p>
          <a:p>
            <a:pPr marL="584200" indent="-22860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84200" algn="l"/>
              </a:tabLst>
            </a:pPr>
            <a:r>
              <a:rPr dirty="0" sz="1200">
                <a:latin typeface="Palatino Linotype"/>
                <a:cs typeface="Palatino Linotype"/>
              </a:rPr>
              <a:t>Does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the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payment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method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have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relation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with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other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columns?</a:t>
            </a:r>
            <a:endParaRPr sz="1200">
              <a:latin typeface="Palatino Linotype"/>
              <a:cs typeface="Palatino Linotype"/>
            </a:endParaRPr>
          </a:p>
          <a:p>
            <a:pPr marL="584200" indent="-22860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84200" algn="l"/>
              </a:tabLst>
            </a:pPr>
            <a:r>
              <a:rPr dirty="0" sz="1200">
                <a:latin typeface="Palatino Linotype"/>
                <a:cs typeface="Palatino Linotype"/>
              </a:rPr>
              <a:t>How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is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the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distribution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of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the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payment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method?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200">
                <a:latin typeface="Palatino Linotype"/>
                <a:cs typeface="Palatino Linotype"/>
              </a:rPr>
              <a:t>And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visualize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the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data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using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Power</a:t>
            </a:r>
            <a:r>
              <a:rPr dirty="0" sz="1200" spc="-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BI</a:t>
            </a:r>
            <a:r>
              <a:rPr dirty="0" sz="1200" spc="26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,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suggestions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to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the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company.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2.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D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s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e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</a:t>
            </a:r>
            <a:r>
              <a:rPr dirty="0" cap="small" sz="1400" spc="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S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u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m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m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a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ry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200" spc="-10">
                <a:latin typeface="Palatino Linotype"/>
                <a:cs typeface="Palatino Linotype"/>
              </a:rPr>
              <a:t>-Rows:1000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200" spc="-10">
                <a:latin typeface="Palatino Linotype"/>
                <a:cs typeface="Palatino Linotype"/>
              </a:rPr>
              <a:t>-Coloumns:12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200" spc="-10">
                <a:latin typeface="Palatino Linotype"/>
                <a:cs typeface="Palatino Linotype"/>
              </a:rPr>
              <a:t>-</a:t>
            </a:r>
            <a:r>
              <a:rPr dirty="0" sz="1200">
                <a:latin typeface="Palatino Linotype"/>
                <a:cs typeface="Palatino Linotype"/>
              </a:rPr>
              <a:t>Key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Features:</a:t>
            </a:r>
            <a:endParaRPr sz="1200">
              <a:latin typeface="Palatino Linotype"/>
              <a:cs typeface="Palatino Linotype"/>
            </a:endParaRPr>
          </a:p>
          <a:p>
            <a:pPr marL="203200">
              <a:lnSpc>
                <a:spcPct val="100000"/>
              </a:lnSpc>
              <a:spcBef>
                <a:spcPts val="455"/>
              </a:spcBef>
            </a:pPr>
            <a:r>
              <a:rPr dirty="0" sz="1200">
                <a:latin typeface="Palatino Linotype"/>
                <a:cs typeface="Palatino Linotype"/>
              </a:rPr>
              <a:t>Customer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demographics</a:t>
            </a:r>
            <a:r>
              <a:rPr dirty="0" sz="1200" spc="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(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Age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,Gender,CustomerId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)</a:t>
            </a:r>
            <a:endParaRPr sz="1200">
              <a:latin typeface="Palatino Linotype"/>
              <a:cs typeface="Palatino Linotype"/>
            </a:endParaRPr>
          </a:p>
          <a:p>
            <a:pPr marL="203200" marR="567055">
              <a:lnSpc>
                <a:spcPts val="1900"/>
              </a:lnSpc>
              <a:spcBef>
                <a:spcPts val="125"/>
              </a:spcBef>
            </a:pPr>
            <a:r>
              <a:rPr dirty="0" sz="1200">
                <a:latin typeface="Palatino Linotype"/>
                <a:cs typeface="Palatino Linotype"/>
              </a:rPr>
              <a:t>Purchase</a:t>
            </a:r>
            <a:r>
              <a:rPr dirty="0" sz="1200" spc="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Details( Quantity</a:t>
            </a:r>
            <a:r>
              <a:rPr dirty="0" sz="1200" spc="1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, </a:t>
            </a:r>
            <a:r>
              <a:rPr dirty="0" sz="1200" spc="-10">
                <a:latin typeface="Palatino Linotype"/>
                <a:cs typeface="Palatino Linotype"/>
              </a:rPr>
              <a:t>Category,Shopping</a:t>
            </a:r>
            <a:r>
              <a:rPr dirty="0" sz="1200">
                <a:latin typeface="Palatino Linotype"/>
                <a:cs typeface="Palatino Linotype"/>
              </a:rPr>
              <a:t> mall </a:t>
            </a:r>
            <a:r>
              <a:rPr dirty="0" sz="1200" spc="-10">
                <a:latin typeface="Palatino Linotype"/>
                <a:cs typeface="Palatino Linotype"/>
              </a:rPr>
              <a:t>,Price,Paymentmethod</a:t>
            </a:r>
            <a:r>
              <a:rPr dirty="0" sz="120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,Invoice </a:t>
            </a:r>
            <a:r>
              <a:rPr dirty="0" sz="1200">
                <a:latin typeface="Palatino Linotype"/>
                <a:cs typeface="Palatino Linotype"/>
              </a:rPr>
              <a:t>date,Invoice</a:t>
            </a:r>
            <a:r>
              <a:rPr dirty="0" sz="1200" spc="-65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number)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3.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D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</a:t>
            </a:r>
            <a:r>
              <a:rPr dirty="0" cap="small" sz="1400" spc="5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n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l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y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s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i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s</a:t>
            </a:r>
            <a:r>
              <a:rPr dirty="0" cap="small" sz="1400" spc="4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U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s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i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n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g</a:t>
            </a:r>
            <a:r>
              <a:rPr dirty="0" cap="small" sz="1400" spc="5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25" b="1">
                <a:solidFill>
                  <a:srgbClr val="0E4660"/>
                </a:solidFill>
                <a:latin typeface="Calibri"/>
                <a:cs typeface="Calibri"/>
              </a:rPr>
              <a:t>SQL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200">
                <a:latin typeface="Palatino Linotype"/>
                <a:cs typeface="Palatino Linotype"/>
              </a:rPr>
              <a:t>Missing</a:t>
            </a:r>
            <a:r>
              <a:rPr dirty="0" sz="1200" spc="-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Data</a:t>
            </a:r>
            <a:r>
              <a:rPr dirty="0" sz="1200" spc="-4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Handling</a:t>
            </a:r>
            <a:r>
              <a:rPr dirty="0" sz="1200" spc="-35">
                <a:latin typeface="Palatino Linotype"/>
                <a:cs typeface="Palatino Linotype"/>
              </a:rPr>
              <a:t> </a:t>
            </a:r>
            <a:r>
              <a:rPr dirty="0" sz="1200" spc="-50">
                <a:latin typeface="Palatino Linotype"/>
                <a:cs typeface="Palatino Linotype"/>
              </a:rPr>
              <a:t>:</a:t>
            </a:r>
            <a:endParaRPr sz="1200">
              <a:latin typeface="Palatino Linotype"/>
              <a:cs typeface="Palatino Linotype"/>
            </a:endParaRPr>
          </a:p>
          <a:p>
            <a:pPr marL="12700" marR="71120" indent="152400">
              <a:lnSpc>
                <a:spcPct val="105000"/>
              </a:lnSpc>
              <a:spcBef>
                <a:spcPts val="360"/>
              </a:spcBef>
            </a:pPr>
            <a:r>
              <a:rPr dirty="0" sz="1200">
                <a:latin typeface="Palatino Linotype"/>
                <a:cs typeface="Palatino Linotype"/>
              </a:rPr>
              <a:t>checked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for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null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values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in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all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rows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and</a:t>
            </a:r>
            <a:r>
              <a:rPr dirty="0" sz="1200" spc="-1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columns</a:t>
            </a:r>
            <a:r>
              <a:rPr dirty="0" sz="1200" spc="-3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in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table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but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here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there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is</a:t>
            </a:r>
            <a:r>
              <a:rPr dirty="0" sz="1200" spc="-25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no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null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>
                <a:latin typeface="Palatino Linotype"/>
                <a:cs typeface="Palatino Linotype"/>
              </a:rPr>
              <a:t>and</a:t>
            </a:r>
            <a:r>
              <a:rPr dirty="0" sz="1200" spc="-20">
                <a:latin typeface="Palatino Linotype"/>
                <a:cs typeface="Palatino Linotype"/>
              </a:rPr>
              <a:t> </a:t>
            </a:r>
            <a:r>
              <a:rPr dirty="0" sz="1200" spc="-10">
                <a:latin typeface="Palatino Linotype"/>
                <a:cs typeface="Palatino Linotype"/>
              </a:rPr>
              <a:t>missing </a:t>
            </a:r>
            <a:r>
              <a:rPr dirty="0" sz="1200">
                <a:latin typeface="Palatino Linotype"/>
                <a:cs typeface="Palatino Linotype"/>
              </a:rPr>
              <a:t>values</a:t>
            </a:r>
            <a:r>
              <a:rPr dirty="0" sz="1200" spc="-50">
                <a:latin typeface="Palatino Linotype"/>
                <a:cs typeface="Palatino Linotype"/>
              </a:rPr>
              <a:t> .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4.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D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</a:t>
            </a:r>
            <a:r>
              <a:rPr dirty="0" cap="small" sz="1400" spc="5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R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e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p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r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e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s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e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n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i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o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n</a:t>
            </a:r>
            <a:r>
              <a:rPr dirty="0" cap="small" sz="1400" spc="7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U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s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i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n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g</a:t>
            </a:r>
            <a:r>
              <a:rPr dirty="0" cap="small" sz="1400" spc="6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P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o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w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e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r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BI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Loading:</a:t>
            </a:r>
            <a:endParaRPr sz="1200">
              <a:latin typeface="Calibri"/>
              <a:cs typeface="Calibri"/>
            </a:endParaRPr>
          </a:p>
          <a:p>
            <a:pPr marL="12700" marR="27940" indent="241935">
              <a:lnSpc>
                <a:spcPct val="101699"/>
              </a:lnSpc>
              <a:spcBef>
                <a:spcPts val="395"/>
              </a:spcBef>
            </a:pPr>
            <a:r>
              <a:rPr dirty="0" sz="1200">
                <a:latin typeface="Calibri"/>
                <a:cs typeface="Calibri"/>
              </a:rPr>
              <a:t>Imported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excel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file(Sql),created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age_group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column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column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by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price*quantity.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7706842"/>
            <a:ext cx="6645909" cy="23901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6880"/>
            <a:ext cx="39649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How</a:t>
            </a:r>
            <a:r>
              <a:rPr dirty="0" cap="small" sz="1400" spc="11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is</a:t>
            </a:r>
            <a:r>
              <a:rPr dirty="0" cap="small" sz="1400" spc="11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the</a:t>
            </a:r>
            <a:r>
              <a:rPr dirty="0" cap="small" sz="1400" spc="11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shopping</a:t>
            </a:r>
            <a:r>
              <a:rPr dirty="0" cap="small" sz="1400" spc="12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distribution</a:t>
            </a:r>
            <a:r>
              <a:rPr dirty="0" cap="small" sz="1400" spc="11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according</a:t>
            </a:r>
            <a:r>
              <a:rPr dirty="0" cap="small" sz="1400" spc="114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to</a:t>
            </a:r>
            <a:r>
              <a:rPr dirty="0" cap="small" sz="1400" spc="114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gender?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7867818"/>
            <a:ext cx="126365" cy="1179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30604" y="7821929"/>
            <a:ext cx="5983605" cy="3962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60"/>
              </a:spcBef>
            </a:pP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2021,2022,2023,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female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customers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revenue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contribution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,indicating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overall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Shopping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impact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4485" y="5302416"/>
            <a:ext cx="3094529" cy="17536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1397" y="902407"/>
            <a:ext cx="2911884" cy="14993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40596" y="2969151"/>
            <a:ext cx="2963673" cy="181764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1744" y="9032955"/>
            <a:ext cx="1954534" cy="12062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4500" y="436880"/>
            <a:ext cx="28721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Which</a:t>
            </a:r>
            <a:r>
              <a:rPr dirty="0" cap="small" sz="1400" spc="10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gender</a:t>
            </a:r>
            <a:r>
              <a:rPr dirty="0" cap="small" sz="1400" spc="10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generated</a:t>
            </a:r>
            <a:r>
              <a:rPr dirty="0" cap="small" sz="1400" spc="114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more</a:t>
            </a:r>
            <a:r>
              <a:rPr dirty="0" cap="small" sz="1400" spc="10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20" b="1">
                <a:solidFill>
                  <a:srgbClr val="0E4660"/>
                </a:solidFill>
                <a:latin typeface="Calibri"/>
                <a:cs typeface="Calibri"/>
              </a:rPr>
              <a:t>revenue</a:t>
            </a:r>
            <a:r>
              <a:rPr dirty="0" sz="1200" spc="-20">
                <a:latin typeface="Palatino Linotype"/>
                <a:cs typeface="Palatino Linotype"/>
              </a:rPr>
              <a:t>?</a:t>
            </a:r>
            <a:endParaRPr sz="120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8340259"/>
            <a:ext cx="126365" cy="1179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8711779"/>
            <a:ext cx="126365" cy="11853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8899693"/>
            <a:ext cx="126365" cy="1179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30604" y="8294369"/>
            <a:ext cx="5983605" cy="132588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2021,2022,2023,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female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customers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revenue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contribution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,indicating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purchasing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impact</a:t>
            </a:r>
            <a:endParaRPr sz="1200">
              <a:latin typeface="Calibri"/>
              <a:cs typeface="Calibri"/>
            </a:endParaRPr>
          </a:p>
          <a:p>
            <a:pPr marL="12700" marR="4248785">
              <a:lnSpc>
                <a:spcPts val="1480"/>
              </a:lnSpc>
              <a:spcBef>
                <a:spcPts val="40"/>
              </a:spcBef>
            </a:pPr>
            <a:r>
              <a:rPr dirty="0" sz="1200" spc="-20">
                <a:latin typeface="Calibri"/>
                <a:cs typeface="Calibri"/>
              </a:rPr>
              <a:t>Total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Revenue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Total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Sales </a:t>
            </a:r>
            <a:r>
              <a:rPr dirty="0" sz="1200" spc="-20">
                <a:latin typeface="Calibri"/>
                <a:cs typeface="Calibri"/>
              </a:rPr>
              <a:t>Total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Female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405"/>
              </a:lnSpc>
            </a:pPr>
            <a:r>
              <a:rPr dirty="0" sz="1200" spc="-10" b="1">
                <a:latin typeface="Calibri"/>
                <a:cs typeface="Calibri"/>
              </a:rPr>
              <a:t>2021-</a:t>
            </a:r>
            <a:r>
              <a:rPr dirty="0" sz="1200" b="1">
                <a:latin typeface="Calibri"/>
                <a:cs typeface="Calibri"/>
              </a:rPr>
              <a:t>553,756.52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Turkish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Libra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 spc="-10" b="1">
                <a:latin typeface="Calibri"/>
                <a:cs typeface="Calibri"/>
              </a:rPr>
              <a:t>2022-</a:t>
            </a:r>
            <a:r>
              <a:rPr dirty="0" sz="1200" b="1">
                <a:latin typeface="Calibri"/>
                <a:cs typeface="Calibri"/>
              </a:rPr>
              <a:t>471,142.68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Turkish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Libra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-10" b="1">
                <a:latin typeface="Calibri"/>
                <a:cs typeface="Calibri"/>
              </a:rPr>
              <a:t>2023-</a:t>
            </a:r>
            <a:r>
              <a:rPr dirty="0" sz="1200" b="1">
                <a:latin typeface="Calibri"/>
                <a:cs typeface="Calibri"/>
              </a:rPr>
              <a:t>56,820.49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Turkish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Libra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31160" y="5854739"/>
            <a:ext cx="3094529" cy="17536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41397" y="902407"/>
            <a:ext cx="2911884" cy="14993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40596" y="2969151"/>
            <a:ext cx="2963673" cy="181764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2919" y="7791001"/>
            <a:ext cx="1639285" cy="17103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96900" y="436880"/>
            <a:ext cx="32118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Which</a:t>
            </a:r>
            <a:r>
              <a:rPr dirty="0" cap="small" sz="1400" spc="9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gender</a:t>
            </a:r>
            <a:r>
              <a:rPr dirty="0" cap="small" sz="1400" spc="9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did</a:t>
            </a:r>
            <a:r>
              <a:rPr dirty="0" cap="small" sz="1400" spc="10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we</a:t>
            </a:r>
            <a:r>
              <a:rPr dirty="0" cap="small" sz="1400" spc="114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sell</a:t>
            </a:r>
            <a:r>
              <a:rPr dirty="0" cap="small" sz="1400" spc="114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more</a:t>
            </a:r>
            <a:r>
              <a:rPr dirty="0" cap="small" sz="1400" spc="114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products</a:t>
            </a:r>
            <a:r>
              <a:rPr dirty="0" cap="small" sz="1400" spc="10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90" b="1">
                <a:solidFill>
                  <a:srgbClr val="0E4660"/>
                </a:solidFill>
                <a:latin typeface="Calibri"/>
                <a:cs typeface="Calibri"/>
              </a:rPr>
              <a:t>to?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6921079"/>
            <a:ext cx="126365" cy="11853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7293145"/>
            <a:ext cx="126365" cy="1179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8038634"/>
            <a:ext cx="126365" cy="1179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59153" y="6875144"/>
            <a:ext cx="5634990" cy="15119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2021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2023</a:t>
            </a:r>
            <a:r>
              <a:rPr dirty="0" sz="1200" spc="-10" b="1">
                <a:latin typeface="Calibri"/>
                <a:cs typeface="Calibri"/>
              </a:rPr>
              <a:t>,Female customers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consistently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purchased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higher number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products </a:t>
            </a:r>
            <a:r>
              <a:rPr dirty="0" sz="1200">
                <a:latin typeface="Calibri"/>
                <a:cs typeface="Calibri"/>
              </a:rPr>
              <a:t>compared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customers.</a:t>
            </a:r>
            <a:endParaRPr sz="1200">
              <a:latin typeface="Calibri"/>
              <a:cs typeface="Calibri"/>
            </a:endParaRPr>
          </a:p>
          <a:p>
            <a:pPr marL="12700" marR="4146550">
              <a:lnSpc>
                <a:spcPct val="101699"/>
              </a:lnSpc>
            </a:pPr>
            <a:r>
              <a:rPr dirty="0" sz="1200" spc="-20">
                <a:latin typeface="Calibri"/>
                <a:cs typeface="Calibri"/>
              </a:rPr>
              <a:t>Total </a:t>
            </a:r>
            <a:r>
              <a:rPr dirty="0" sz="1200">
                <a:latin typeface="Calibri"/>
                <a:cs typeface="Calibri"/>
              </a:rPr>
              <a:t>Quantity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10">
                <a:latin typeface="Calibri"/>
                <a:cs typeface="Calibri"/>
              </a:rPr>
              <a:t> Female 2021-</a:t>
            </a:r>
            <a:r>
              <a:rPr dirty="0" sz="1200" spc="-10" b="1">
                <a:latin typeface="Calibri"/>
                <a:cs typeface="Calibri"/>
              </a:rPr>
              <a:t>835Qty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 spc="-10">
                <a:latin typeface="Calibri"/>
                <a:cs typeface="Calibri"/>
              </a:rPr>
              <a:t>2022</a:t>
            </a:r>
            <a:r>
              <a:rPr dirty="0" sz="1200" spc="-10" b="1">
                <a:latin typeface="Calibri"/>
                <a:cs typeface="Calibri"/>
              </a:rPr>
              <a:t>-872Qty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200" spc="-10">
                <a:latin typeface="Calibri"/>
                <a:cs typeface="Calibri"/>
              </a:rPr>
              <a:t>2023-</a:t>
            </a:r>
            <a:r>
              <a:rPr dirty="0" sz="1200" spc="-10" b="1">
                <a:latin typeface="Calibri"/>
                <a:cs typeface="Calibri"/>
              </a:rPr>
              <a:t>146Qty</a:t>
            </a:r>
            <a:endParaRPr sz="1200">
              <a:latin typeface="Calibri"/>
              <a:cs typeface="Calibri"/>
            </a:endParaRPr>
          </a:p>
          <a:p>
            <a:pPr marL="254635" marR="3206750" indent="-242570">
              <a:lnSpc>
                <a:spcPct val="101699"/>
              </a:lnSpc>
            </a:pP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Quantity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Purchased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Female 1853Qty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95475" y="791598"/>
            <a:ext cx="3076575" cy="174520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41459" y="2856683"/>
            <a:ext cx="2942026" cy="164945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61979" y="4735630"/>
            <a:ext cx="3076915" cy="1765679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4708" y="436880"/>
            <a:ext cx="45681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Distribution</a:t>
            </a:r>
            <a:r>
              <a:rPr dirty="0" cap="small" sz="1400" spc="9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of</a:t>
            </a:r>
            <a:r>
              <a:rPr dirty="0" cap="small" sz="1400" spc="10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purchase</a:t>
            </a:r>
            <a:r>
              <a:rPr dirty="0" cap="small" sz="1400" spc="11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categories</a:t>
            </a:r>
            <a:r>
              <a:rPr dirty="0" cap="small" sz="1400" spc="9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relative</a:t>
            </a:r>
            <a:r>
              <a:rPr dirty="0" cap="small" sz="1400" spc="11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to</a:t>
            </a:r>
            <a:r>
              <a:rPr dirty="0" cap="small" sz="1400" spc="10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other</a:t>
            </a:r>
            <a:r>
              <a:rPr dirty="0" cap="small" sz="1400" spc="9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columns?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7617628"/>
            <a:ext cx="126365" cy="1179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7989739"/>
            <a:ext cx="126365" cy="1179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59153" y="7571613"/>
            <a:ext cx="5298440" cy="58102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70"/>
              </a:spcBef>
            </a:pPr>
            <a:r>
              <a:rPr dirty="0" sz="1200" spc="-10">
                <a:latin typeface="Calibri"/>
                <a:cs typeface="Calibri"/>
              </a:rPr>
              <a:t>Across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2021,2022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2023,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clothing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category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highest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sales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second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popular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category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Shoes</a:t>
            </a:r>
            <a:r>
              <a:rPr dirty="0" sz="1200" spc="-10">
                <a:latin typeface="Calibri"/>
                <a:cs typeface="Calibri"/>
              </a:rPr>
              <a:t>(2021,2023)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Overall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Category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Sold-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Clothing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1575" y="952499"/>
            <a:ext cx="4724400" cy="18383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1190" y="3265883"/>
            <a:ext cx="4549730" cy="182478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5328" y="5419724"/>
            <a:ext cx="4741865" cy="19145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2025" y="8454326"/>
            <a:ext cx="5534025" cy="177736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6880"/>
            <a:ext cx="37122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How</a:t>
            </a:r>
            <a:r>
              <a:rPr dirty="0" cap="small" sz="1400" spc="11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is</a:t>
            </a:r>
            <a:r>
              <a:rPr dirty="0" cap="small" sz="1400" spc="11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the</a:t>
            </a:r>
            <a:r>
              <a:rPr dirty="0" cap="small" sz="1400" spc="11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shopping</a:t>
            </a:r>
            <a:r>
              <a:rPr dirty="0" cap="small" sz="1400" spc="12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distribution</a:t>
            </a:r>
            <a:r>
              <a:rPr dirty="0" cap="small" sz="1400" spc="11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according</a:t>
            </a:r>
            <a:r>
              <a:rPr dirty="0" cap="small" sz="1400" spc="114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to</a:t>
            </a:r>
            <a:r>
              <a:rPr dirty="0" cap="small" sz="1400" spc="114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40" b="1">
                <a:solidFill>
                  <a:srgbClr val="0E4660"/>
                </a:solidFill>
                <a:latin typeface="Calibri"/>
                <a:cs typeface="Calibri"/>
              </a:rPr>
              <a:t>age?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7340179"/>
            <a:ext cx="126365" cy="11853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7712245"/>
            <a:ext cx="126365" cy="1179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59153" y="7294244"/>
            <a:ext cx="5649595" cy="5803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2021,the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40-</a:t>
            </a:r>
            <a:r>
              <a:rPr dirty="0" sz="1200" b="1">
                <a:latin typeface="Calibri"/>
                <a:cs typeface="Calibri"/>
              </a:rPr>
              <a:t>50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age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group </a:t>
            </a:r>
            <a:r>
              <a:rPr dirty="0" sz="1200" spc="-10">
                <a:latin typeface="Calibri"/>
                <a:cs typeface="Calibri"/>
              </a:rPr>
              <a:t>contributed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highest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purchase,however,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2022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2023,the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60-</a:t>
            </a:r>
            <a:r>
              <a:rPr dirty="0" sz="1200" b="1">
                <a:latin typeface="Calibri"/>
                <a:cs typeface="Calibri"/>
              </a:rPr>
              <a:t>70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age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group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accounted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highest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purchase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volume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Overall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purchased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125" y="704849"/>
            <a:ext cx="4648200" cy="19812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7871" y="2771774"/>
            <a:ext cx="4684585" cy="19812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4351" y="5019674"/>
            <a:ext cx="4660924" cy="19050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03841" y="8305850"/>
            <a:ext cx="1830796" cy="148755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6880"/>
            <a:ext cx="32181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Which</a:t>
            </a:r>
            <a:r>
              <a:rPr dirty="0" cap="small" sz="1400" spc="7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age</a:t>
            </a:r>
            <a:r>
              <a:rPr dirty="0" cap="small" sz="1400" spc="9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cat</a:t>
            </a:r>
            <a:r>
              <a:rPr dirty="0" cap="small" sz="1400" spc="8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did</a:t>
            </a:r>
            <a:r>
              <a:rPr dirty="0" cap="small" sz="1400" spc="8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we</a:t>
            </a:r>
            <a:r>
              <a:rPr dirty="0" cap="small" sz="1400" spc="6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sell</a:t>
            </a:r>
            <a:r>
              <a:rPr dirty="0" cap="small" sz="1400" spc="9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more</a:t>
            </a:r>
            <a:r>
              <a:rPr dirty="0" cap="small" sz="1400" spc="9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products</a:t>
            </a:r>
            <a:r>
              <a:rPr dirty="0" cap="small" sz="1400" spc="8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90" b="1">
                <a:solidFill>
                  <a:srgbClr val="0E4660"/>
                </a:solidFill>
                <a:latin typeface="Calibri"/>
                <a:cs typeface="Calibri"/>
              </a:rPr>
              <a:t>to?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7302079"/>
            <a:ext cx="126365" cy="11853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7674145"/>
            <a:ext cx="126365" cy="1179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59153" y="7256144"/>
            <a:ext cx="5701665" cy="5803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200">
                <a:latin typeface="Calibri"/>
                <a:cs typeface="Calibri"/>
              </a:rPr>
              <a:t>Customer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purchasing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trends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shift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40-50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2021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60-70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age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2023,indicting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increased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buying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activity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among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older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customers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total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quantity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4425" y="781049"/>
            <a:ext cx="4343400" cy="1828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4425" y="2905124"/>
            <a:ext cx="4343400" cy="18383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7275" y="4924424"/>
            <a:ext cx="4343400" cy="1828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13205" y="8067611"/>
            <a:ext cx="4267200" cy="182880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5459" y="436880"/>
            <a:ext cx="28962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Which</a:t>
            </a:r>
            <a:r>
              <a:rPr dirty="0" cap="small" sz="1400" spc="6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age</a:t>
            </a:r>
            <a:r>
              <a:rPr dirty="0" cap="small" sz="1400" spc="8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cat</a:t>
            </a:r>
            <a:r>
              <a:rPr dirty="0" cap="small" sz="1400" spc="7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generated</a:t>
            </a:r>
            <a:r>
              <a:rPr dirty="0" cap="small" sz="1400" spc="6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more</a:t>
            </a:r>
            <a:r>
              <a:rPr dirty="0" cap="small" sz="1400" spc="8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20" b="1">
                <a:solidFill>
                  <a:srgbClr val="0E4660"/>
                </a:solidFill>
                <a:latin typeface="Calibri"/>
                <a:cs typeface="Calibri"/>
              </a:rPr>
              <a:t>revenue?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6999139"/>
            <a:ext cx="126365" cy="1179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7370658"/>
            <a:ext cx="126365" cy="11853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2004" y="6952868"/>
            <a:ext cx="6037580" cy="5803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200">
                <a:latin typeface="Calibri"/>
                <a:cs typeface="Calibri"/>
              </a:rPr>
              <a:t>Revenue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trends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indicates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shift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40-50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2021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60-70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2022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2023,showing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increased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spending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among </a:t>
            </a:r>
            <a:r>
              <a:rPr dirty="0" sz="1200" b="1">
                <a:latin typeface="Calibri"/>
                <a:cs typeface="Calibri"/>
              </a:rPr>
              <a:t>older</a:t>
            </a:r>
            <a:r>
              <a:rPr dirty="0" sz="1200" spc="-10" b="1">
                <a:latin typeface="Calibri"/>
                <a:cs typeface="Calibri"/>
              </a:rPr>
              <a:t> customers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Overall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revenue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7775" y="676274"/>
            <a:ext cx="3714564" cy="19211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5875" y="2743199"/>
            <a:ext cx="3828382" cy="19017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5400" y="4724399"/>
            <a:ext cx="3777672" cy="21336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14500" y="7610437"/>
            <a:ext cx="3971925" cy="213360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6880"/>
            <a:ext cx="45212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Does</a:t>
            </a:r>
            <a:r>
              <a:rPr dirty="0" cap="small" sz="1400" spc="5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the</a:t>
            </a:r>
            <a:r>
              <a:rPr dirty="0" cap="small" sz="1400" spc="5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payment</a:t>
            </a:r>
            <a:r>
              <a:rPr dirty="0" cap="small" sz="1400" spc="7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method</a:t>
            </a:r>
            <a:r>
              <a:rPr dirty="0" cap="small" sz="1400" spc="6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have</a:t>
            </a:r>
            <a:r>
              <a:rPr dirty="0" cap="small" sz="1400" spc="7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</a:t>
            </a:r>
            <a:r>
              <a:rPr dirty="0" cap="small" sz="1400" spc="7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relation</a:t>
            </a:r>
            <a:r>
              <a:rPr dirty="0" cap="small" sz="1400" spc="6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with</a:t>
            </a:r>
            <a:r>
              <a:rPr dirty="0" cap="small" sz="1400" spc="6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other</a:t>
            </a:r>
            <a:r>
              <a:rPr dirty="0" cap="small" sz="1400" spc="7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columns?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6484154"/>
            <a:ext cx="126365" cy="1179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2004" y="6437756"/>
            <a:ext cx="5920740" cy="3943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200" spc="-10">
                <a:latin typeface="Calibri"/>
                <a:cs typeface="Calibri"/>
              </a:rPr>
              <a:t>Payment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analysis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shows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cash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dominant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payment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,contributing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highest </a:t>
            </a:r>
            <a:r>
              <a:rPr dirty="0" sz="1200">
                <a:latin typeface="Calibri"/>
                <a:cs typeface="Calibri"/>
              </a:rPr>
              <a:t>share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total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consistently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2021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2023.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4717" y="863349"/>
            <a:ext cx="3372172" cy="16855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6420" y="2666364"/>
            <a:ext cx="3446223" cy="166242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85925" y="4438014"/>
            <a:ext cx="3444875" cy="191570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6880"/>
            <a:ext cx="34480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How</a:t>
            </a:r>
            <a:r>
              <a:rPr dirty="0" cap="small" sz="1400" spc="7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is</a:t>
            </a:r>
            <a:r>
              <a:rPr dirty="0" cap="small" sz="1400" spc="8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the</a:t>
            </a:r>
            <a:r>
              <a:rPr dirty="0" cap="small" sz="1400" spc="7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distribution</a:t>
            </a:r>
            <a:r>
              <a:rPr dirty="0" cap="small" sz="1400" spc="9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of</a:t>
            </a:r>
            <a:r>
              <a:rPr dirty="0" cap="small" sz="1400" spc="8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the</a:t>
            </a:r>
            <a:r>
              <a:rPr dirty="0" cap="small" sz="1400" spc="7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payment</a:t>
            </a:r>
            <a:r>
              <a:rPr dirty="0" cap="small" sz="1400" spc="9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25" b="1">
                <a:solidFill>
                  <a:srgbClr val="0E4660"/>
                </a:solidFill>
                <a:latin typeface="Calibri"/>
                <a:cs typeface="Calibri"/>
              </a:rPr>
              <a:t>method?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5865030"/>
            <a:ext cx="126365" cy="1179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6237139"/>
            <a:ext cx="126365" cy="1179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2004" y="5819012"/>
            <a:ext cx="6210300" cy="5803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payment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trends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shows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shift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cash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dominance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2021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increased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credit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card </a:t>
            </a:r>
            <a:r>
              <a:rPr dirty="0" sz="1200">
                <a:latin typeface="Calibri"/>
                <a:cs typeface="Calibri"/>
              </a:rPr>
              <a:t>usage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2023,indicating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 </a:t>
            </a:r>
            <a:r>
              <a:rPr dirty="0" sz="1200" spc="-10">
                <a:latin typeface="Calibri"/>
                <a:cs typeface="Calibri"/>
              </a:rPr>
              <a:t>customer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payment preference.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Overall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payment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total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order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2199" y="822093"/>
            <a:ext cx="3685997" cy="14578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0819" y="2417414"/>
            <a:ext cx="3626101" cy="14971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66875" y="4071866"/>
            <a:ext cx="3691977" cy="164143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37054" y="6715125"/>
            <a:ext cx="3797694" cy="1752599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382625"/>
            <a:ext cx="3675379" cy="56197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5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.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O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v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e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r</a:t>
            </a:r>
            <a:r>
              <a:rPr dirty="0" cap="small" sz="1400" spc="8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l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l</a:t>
            </a:r>
            <a:r>
              <a:rPr dirty="0" cap="small" sz="1400" spc="8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n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l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y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s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i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s</a:t>
            </a:r>
            <a:r>
              <a:rPr dirty="0" cap="small" sz="1400" spc="8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–</a:t>
            </a:r>
            <a:r>
              <a:rPr dirty="0" cap="small" sz="1400" spc="-1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P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o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w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e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r</a:t>
            </a:r>
            <a:r>
              <a:rPr dirty="0" cap="small" sz="1400" spc="8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25" b="1">
                <a:solidFill>
                  <a:srgbClr val="0E4660"/>
                </a:solidFill>
                <a:latin typeface="Calibri"/>
                <a:cs typeface="Calibri"/>
              </a:rPr>
              <a:t>BI</a:t>
            </a:r>
            <a:endParaRPr sz="1400">
              <a:latin typeface="Calibri"/>
              <a:cs typeface="Calibri"/>
            </a:endParaRPr>
          </a:p>
          <a:p>
            <a:pPr marL="2101215">
              <a:lnSpc>
                <a:spcPct val="100000"/>
              </a:lnSpc>
              <a:spcBef>
                <a:spcPts val="430"/>
              </a:spcBef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2021-Analysis</a:t>
            </a:r>
            <a:r>
              <a:rPr dirty="0" cap="small" sz="1400" spc="14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30" b="1">
                <a:solidFill>
                  <a:srgbClr val="0E4660"/>
                </a:solidFill>
                <a:latin typeface="Calibri"/>
                <a:cs typeface="Calibri"/>
              </a:rPr>
              <a:t>Report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1886" y="5820536"/>
            <a:ext cx="15849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2022-Analysis</a:t>
            </a:r>
            <a:r>
              <a:rPr dirty="0" cap="small" sz="1400" spc="14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35" b="1">
                <a:solidFill>
                  <a:srgbClr val="0E4660"/>
                </a:solidFill>
                <a:latin typeface="Calibri"/>
                <a:cs typeface="Calibri"/>
              </a:rPr>
              <a:t>Report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643077"/>
            <a:ext cx="6645909" cy="35318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659" y="1352295"/>
            <a:ext cx="6645909" cy="371475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0486" y="436880"/>
            <a:ext cx="15868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2023-Analysis</a:t>
            </a:r>
            <a:r>
              <a:rPr dirty="0" cap="small" sz="1400" spc="15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35" b="1">
                <a:solidFill>
                  <a:srgbClr val="0E4660"/>
                </a:solidFill>
                <a:latin typeface="Calibri"/>
                <a:cs typeface="Calibri"/>
              </a:rPr>
              <a:t>Report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1012" y="5430392"/>
            <a:ext cx="5690870" cy="396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Revenue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upword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trend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982.28k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Turkish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Libra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2021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1.23M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2022.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5"/>
              </a:spcBef>
              <a:buFont typeface="Wingdings"/>
              <a:buChar char="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2023,the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quarter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(January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March)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generated </a:t>
            </a:r>
            <a:r>
              <a:rPr dirty="0" sz="1200" b="1">
                <a:latin typeface="Calibri"/>
                <a:cs typeface="Calibri"/>
              </a:rPr>
              <a:t>153.54K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Turkish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Libra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604" y="6876668"/>
            <a:ext cx="6560184" cy="21824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6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.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M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y</a:t>
            </a:r>
            <a:r>
              <a:rPr dirty="0" cap="small" sz="1400" spc="12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S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u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g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g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e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s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i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o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n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s</a:t>
            </a:r>
            <a:r>
              <a:rPr dirty="0" cap="small" sz="1400" spc="12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o</a:t>
            </a:r>
            <a:r>
              <a:rPr dirty="0" cap="small" sz="1400" spc="12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C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o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m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p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a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n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y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100">
              <a:latin typeface="Calibri"/>
              <a:cs typeface="Calibri"/>
            </a:endParaRPr>
          </a:p>
          <a:p>
            <a:pPr marL="456565" marR="133985" indent="-227965">
              <a:lnSpc>
                <a:spcPct val="102499"/>
              </a:lnSpc>
              <a:buFont typeface="Wingdings"/>
              <a:buChar char=""/>
              <a:tabLst>
                <a:tab pos="457834" algn="l"/>
              </a:tabLst>
            </a:pP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analysis,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recommend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expanding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range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introducing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additional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items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clothing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category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,as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consistently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demand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.Additionally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,adding</a:t>
            </a:r>
            <a:endParaRPr sz="1200">
              <a:latin typeface="Calibri"/>
              <a:cs typeface="Calibri"/>
            </a:endParaRPr>
          </a:p>
          <a:p>
            <a:pPr marL="457834" marR="65405">
              <a:lnSpc>
                <a:spcPct val="101699"/>
              </a:lnSpc>
              <a:spcBef>
                <a:spcPts val="5"/>
              </a:spcBef>
            </a:pPr>
            <a:r>
              <a:rPr dirty="0" sz="1200" spc="-10" b="1">
                <a:latin typeface="Calibri"/>
                <a:cs typeface="Calibri"/>
              </a:rPr>
              <a:t>technology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products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launching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shoes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category </a:t>
            </a:r>
            <a:r>
              <a:rPr dirty="0" sz="1200">
                <a:latin typeface="Calibri"/>
                <a:cs typeface="Calibri"/>
              </a:rPr>
              <a:t>could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diversify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portfolio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attract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segments,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ultimately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increasing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overall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revenue.</a:t>
            </a:r>
            <a:endParaRPr sz="1200">
              <a:latin typeface="Calibri"/>
              <a:cs typeface="Calibri"/>
            </a:endParaRPr>
          </a:p>
          <a:p>
            <a:pPr marL="456565" marR="5080" indent="-227965">
              <a:lnSpc>
                <a:spcPct val="101699"/>
              </a:lnSpc>
              <a:buFont typeface="Wingdings"/>
              <a:buChar char=""/>
              <a:tabLst>
                <a:tab pos="457834" algn="l"/>
              </a:tabLst>
            </a:pPr>
            <a:r>
              <a:rPr dirty="0" sz="1200">
                <a:latin typeface="Calibri"/>
                <a:cs typeface="Calibri"/>
              </a:rPr>
              <a:t>Analysis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external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reviews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malls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Istanbul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indicates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recurring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complaints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regarding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indoor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smoking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leading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discomfort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among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non-smoking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visitors.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enhance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</a:t>
            </a:r>
            <a:endParaRPr sz="1200">
              <a:latin typeface="Calibri"/>
              <a:cs typeface="Calibri"/>
            </a:endParaRPr>
          </a:p>
          <a:p>
            <a:pPr marL="457834" marR="593725">
              <a:lnSpc>
                <a:spcPct val="101699"/>
              </a:lnSpc>
            </a:pPr>
            <a:r>
              <a:rPr dirty="0" sz="1200">
                <a:latin typeface="Calibri"/>
                <a:cs typeface="Calibri"/>
              </a:rPr>
              <a:t>experience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maintain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healthier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environment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,it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recommended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establish clearly designated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smoking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zones</a:t>
            </a:r>
            <a:r>
              <a:rPr dirty="0" sz="1200">
                <a:latin typeface="Calibri"/>
                <a:cs typeface="Calibri"/>
              </a:rPr>
              <a:t>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physically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separated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shopping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areas.</a:t>
            </a:r>
            <a:endParaRPr sz="1200">
              <a:latin typeface="Calibri"/>
              <a:cs typeface="Calibri"/>
            </a:endParaRPr>
          </a:p>
          <a:p>
            <a:pPr marL="400050">
              <a:lnSpc>
                <a:spcPct val="100000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[External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Source-</a:t>
            </a:r>
            <a:r>
              <a:rPr dirty="0" sz="1200">
                <a:latin typeface="Calibri"/>
                <a:cs typeface="Calibri"/>
              </a:rPr>
              <a:t>Mall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Review]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992885"/>
            <a:ext cx="6645909" cy="369633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6880"/>
            <a:ext cx="2985135" cy="1217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100"/>
              </a:spcBef>
            </a:pP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7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.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e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a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m</a:t>
            </a:r>
            <a:r>
              <a:rPr dirty="0" cap="small" sz="1400" spc="13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I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n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r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o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d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u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c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t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i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o</a:t>
            </a:r>
            <a:r>
              <a:rPr dirty="0" cap="small" sz="1400" b="1">
                <a:solidFill>
                  <a:srgbClr val="0E4660"/>
                </a:solidFill>
                <a:latin typeface="Calibri"/>
                <a:cs typeface="Calibri"/>
              </a:rPr>
              <a:t>n</a:t>
            </a:r>
            <a:r>
              <a:rPr dirty="0" cap="small" sz="1400" spc="15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S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e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c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t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i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o</a:t>
            </a:r>
            <a:r>
              <a:rPr dirty="0" cap="small" sz="1400" spc="-10" b="1">
                <a:solidFill>
                  <a:srgbClr val="0E4660"/>
                </a:solidFill>
                <a:latin typeface="Calibri"/>
                <a:cs typeface="Calibri"/>
              </a:rPr>
              <a:t>n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100">
              <a:latin typeface="Calibri"/>
              <a:cs typeface="Calibri"/>
            </a:endParaRPr>
          </a:p>
          <a:p>
            <a:pPr marL="12700" marR="75565">
              <a:lnSpc>
                <a:spcPct val="13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Title: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PRDA-</a:t>
            </a:r>
            <a:r>
              <a:rPr dirty="0" sz="1200">
                <a:latin typeface="Calibri"/>
                <a:cs typeface="Calibri"/>
              </a:rPr>
              <a:t>05: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Analysis </a:t>
            </a:r>
            <a:r>
              <a:rPr dirty="0" sz="1200" spc="-20">
                <a:latin typeface="Calibri"/>
                <a:cs typeface="Calibri"/>
              </a:rPr>
              <a:t>Team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Id: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PTID-</a:t>
            </a:r>
            <a:r>
              <a:rPr dirty="0" sz="1200" spc="-20">
                <a:latin typeface="Calibri"/>
                <a:cs typeface="Calibri"/>
              </a:rPr>
              <a:t>CDA-</a:t>
            </a:r>
            <a:r>
              <a:rPr dirty="0" sz="1200" spc="-10">
                <a:latin typeface="Calibri"/>
                <a:cs typeface="Calibri"/>
              </a:rPr>
              <a:t>MAR-26-</a:t>
            </a:r>
            <a:r>
              <a:rPr dirty="0" sz="1200" spc="-20">
                <a:latin typeface="Calibri"/>
                <a:cs typeface="Calibri"/>
              </a:rPr>
              <a:t>11139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25">
                <a:latin typeface="Calibri"/>
                <a:cs typeface="Calibri"/>
              </a:rPr>
              <a:t>Team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Member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Prasanth </a:t>
            </a:r>
            <a:r>
              <a:rPr dirty="0" sz="1200">
                <a:latin typeface="Calibri"/>
                <a:cs typeface="Calibri"/>
              </a:rPr>
              <a:t>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(Data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Analyst)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6952615" cy="10084435"/>
          </a:xfrm>
          <a:custGeom>
            <a:avLst/>
            <a:gdLst/>
            <a:ahLst/>
            <a:cxnLst/>
            <a:rect l="l" t="t" r="r" b="b"/>
            <a:pathLst>
              <a:path w="6952615" h="10084435">
                <a:moveTo>
                  <a:pt x="6952475" y="10078225"/>
                </a:moveTo>
                <a:lnTo>
                  <a:pt x="6946392" y="10078225"/>
                </a:lnTo>
                <a:lnTo>
                  <a:pt x="6096" y="10078225"/>
                </a:lnTo>
                <a:lnTo>
                  <a:pt x="0" y="10078225"/>
                </a:lnTo>
                <a:lnTo>
                  <a:pt x="0" y="10084308"/>
                </a:lnTo>
                <a:lnTo>
                  <a:pt x="6096" y="10084308"/>
                </a:lnTo>
                <a:lnTo>
                  <a:pt x="6946392" y="10084308"/>
                </a:lnTo>
                <a:lnTo>
                  <a:pt x="6952475" y="10084308"/>
                </a:lnTo>
                <a:lnTo>
                  <a:pt x="6952475" y="10078225"/>
                </a:lnTo>
                <a:close/>
              </a:path>
              <a:path w="6952615" h="10084435">
                <a:moveTo>
                  <a:pt x="6952475" y="0"/>
                </a:moveTo>
                <a:lnTo>
                  <a:pt x="69463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0078212"/>
                </a:lnTo>
                <a:lnTo>
                  <a:pt x="6096" y="10078212"/>
                </a:lnTo>
                <a:lnTo>
                  <a:pt x="6096" y="6096"/>
                </a:lnTo>
                <a:lnTo>
                  <a:pt x="6946392" y="6096"/>
                </a:lnTo>
                <a:lnTo>
                  <a:pt x="6946392" y="10078212"/>
                </a:lnTo>
                <a:lnTo>
                  <a:pt x="6952475" y="10078212"/>
                </a:lnTo>
                <a:lnTo>
                  <a:pt x="6952475" y="6096"/>
                </a:lnTo>
                <a:lnTo>
                  <a:pt x="6952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 GROUPS</dc:creator>
  <dcterms:created xsi:type="dcterms:W3CDTF">2026-05-01T06:47:30Z</dcterms:created>
  <dcterms:modified xsi:type="dcterms:W3CDTF">2026-05-01T06:47:30Z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2026-05-01T00:00:00Z</vt:filetime>
  </property>
  <property fmtid="{D5CDD505-2E9C-101B-9397-08002B2CF9AE}" pid="4" name="Creator">
    <vt:lpwstr>Microsoft® Word LTSC</vt:lpwstr>
  </property>
  <property fmtid="{D5CDD505-2E9C-101B-9397-08002B2CF9AE}" pid="5" name="LastSaved">
    <vt:filetime>2026-05-01T00:00:00Z</vt:filetime>
  </property>
  <property fmtid="{D5CDD505-2E9C-101B-9397-08002B2CF9AE}" pid="6" name="Producer">
    <vt:lpwstr>Microsoft® Word LTSC</vt:lpwstr>
  </property>
</Properties>
</file>